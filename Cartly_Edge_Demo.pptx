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822960"/>
            <a:ext cx="4023360" cy="4023360"/>
          </a:xfrm>
          <a:prstGeom prst="ellipse">
            <a:avLst/>
          </a:prstGeom>
          <a:solidFill>
            <a:srgbClr val="03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3931920"/>
            <a:ext cx="3657600" cy="3657600"/>
          </a:xfrm>
          <a:prstGeom prst="ellipse">
            <a:avLst/>
          </a:prstGeom>
          <a:solidFill>
            <a:srgbClr val="02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80160"/>
            <a:ext cx="5788152" cy="8641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51460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71717A"/>
                </a:solidFill>
                <a:latin typeface="Calibri"/>
              </a:rPr>
              <a:t>Smart Trolley Intelligence Platform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74720" y="3127248"/>
            <a:ext cx="523951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89888" y="3429000"/>
            <a:ext cx="1732788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3447288"/>
            <a:ext cx="17327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ESP32-S3 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0692" y="3429000"/>
            <a:ext cx="1732788" cy="27432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0692" y="3447288"/>
            <a:ext cx="17327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AWS RDS MySQL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11496" y="3429000"/>
            <a:ext cx="1627632" cy="274320"/>
          </a:xfrm>
          <a:prstGeom prst="rect">
            <a:avLst/>
          </a:prstGeom>
          <a:solidFill>
            <a:srgbClr val="A855F7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1496" y="3447288"/>
            <a:ext cx="16276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MQTT TLS 1.3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67144" y="3429000"/>
            <a:ext cx="1417320" cy="27432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344728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Open-Meteo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429000"/>
            <a:ext cx="2258568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447288"/>
            <a:ext cx="2258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Metabase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26364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52525B"/>
                </a:solidFill>
                <a:latin typeface="Calibri"/>
              </a:rPr>
              <a:t>ELEC0033  ·  UCL Year 3  ·  Edge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Three-Tier Edge Deployment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3611880" cy="5486400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2× MKR1010 + 1× ESP32 C3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31136"/>
            <a:ext cx="3246120" cy="0"/>
          </a:xfrm>
          <a:prstGeom prst="line">
            <a:avLst/>
          </a:prstGeom>
          <a:ln w="63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2× MKR1010 + 1× ESP32 C3 Super Mini as static Wi-Fi 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SSIDs: ANCHOR_A  ·  ANCHOR_B  ·  ANCHOR_C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Fixed positions in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Trolley passively scans RSSI every 15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Forms indoor positioning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1051560"/>
            <a:ext cx="3611880" cy="548640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117043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22C55E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1600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EDGE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190195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ESP32-S3 on Trolley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71416" y="2231136"/>
            <a:ext cx="3246120" cy="0"/>
          </a:xfrm>
          <a:prstGeom prst="line">
            <a:avLst/>
          </a:prstGeom>
          <a:ln w="63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71416" y="23774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50 Hz sensor loop (20 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8803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8 on-device classifiers — no cloud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383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Haptic actuator + TFT display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886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MQTT TLS 1.3 publish at 10 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4389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Continues locally if cloud offline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1051560"/>
            <a:ext cx="3611880" cy="5486400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170432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3799F6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1600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799F6"/>
                </a:solidFill>
                <a:latin typeface="Calibri"/>
              </a:rPr>
              <a:t>CLOUD /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190195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AWS + FastAPI + React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02752" y="2231136"/>
            <a:ext cx="3246120" cy="0"/>
          </a:xfrm>
          <a:prstGeom prst="line">
            <a:avLst/>
          </a:prstGeom>
          <a:ln w="6350">
            <a:solidFill>
              <a:srgbClr val="379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02752" y="23774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MQTT broker: mqtt.yungcz.com:8883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8803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AWS RDS MySQL (eu-west-2)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383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FastAPI + WebSocket: api.cartly.yungcz.com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3886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Metabase: analytics.cartly.yungcz.com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3891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Open-Meteo weather enrichment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5656" y="3566160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71717A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2" y="3566160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71717A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User Requirements &amp; Performance Indicators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5943600" cy="333756"/>
          </a:xfrm>
          <a:prstGeom prst="rect">
            <a:avLst/>
          </a:prstGeom>
          <a:solidFill>
            <a:srgbClr val="14223A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06424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User /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1096" y="1106424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Requirement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5316"/>
            <a:ext cx="5943600" cy="333756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440180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Store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1096" y="1440180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Real-time alerts when trolley enters checkout 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19072"/>
            <a:ext cx="5943600" cy="333756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773936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Store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6" y="1773936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Immediate notification on pickup or drop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52828"/>
            <a:ext cx="5943600" cy="333756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2107692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Store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6" y="2107692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Historical analytics: zone utilisation, events, movement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86584"/>
            <a:ext cx="5943600" cy="333756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441448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1096" y="2441448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Adjust detection sensitivity remotely — no physical access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20340"/>
            <a:ext cx="5943600" cy="333756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2775204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1096" y="2775204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Live health status of every deployed trolley at a glance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54096"/>
            <a:ext cx="5943600" cy="333756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3108960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6" y="3108960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Battery-powered and untethered — fits trolley form factor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7852"/>
            <a:ext cx="5943600" cy="333756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" y="3442716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11096" y="3442716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Data persisted centrally for cross-session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21608"/>
            <a:ext cx="5943600" cy="333756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776472"/>
            <a:ext cx="12618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11096" y="3776472"/>
            <a:ext cx="4462272" cy="3337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Edge processing continues if cloud connectivity is lost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051560"/>
            <a:ext cx="260604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1133856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Telemetry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1353312"/>
            <a:ext cx="235000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3799F6"/>
                </a:solidFill>
                <a:latin typeface="Calibri"/>
              </a:rPr>
              <a:t>10 Hz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1819656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100 ms MQTT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1051560"/>
            <a:ext cx="260604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4896" y="1133856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Event Latency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54896" y="1353312"/>
            <a:ext cx="235000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Calibri"/>
              </a:rPr>
              <a:t>40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896" y="1819656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Priority upload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203704"/>
            <a:ext cx="260604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11696" y="2286000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IMU Sample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1696" y="2505456"/>
            <a:ext cx="235000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3799F6"/>
                </a:solidFill>
                <a:latin typeface="Calibri"/>
              </a:rPr>
              <a:t>50 Hz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11696" y="2971800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20 ms loop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2203704"/>
            <a:ext cx="260604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54896" y="2286000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Battery Runtime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54896" y="2505456"/>
            <a:ext cx="235000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3.5 hr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54896" y="2971800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1100 mAh @ 1W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3355848"/>
            <a:ext cx="260604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11696" y="3438144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MQTT Reconnect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11696" y="3657600"/>
            <a:ext cx="235000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Calibri"/>
              </a:rPr>
              <a:t>&lt;1.5 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11696" y="4123944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Firmware retry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3355848"/>
            <a:ext cx="260604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54896" y="3438144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DB Columns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54896" y="3657600"/>
            <a:ext cx="235000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A855F7"/>
                </a:solidFill>
                <a:latin typeface="Calibri"/>
              </a:rPr>
              <a:t>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54896" y="4123944"/>
            <a:ext cx="23500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All labelled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HARDWARE ·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Four Sensor Types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2743200" cy="548640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61288"/>
            <a:ext cx="2523744" cy="256032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79576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QMI8658 · 3-axis · 50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22C55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IMU Accelerometer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2267712"/>
            <a:ext cx="2468880" cy="0"/>
          </a:xfrm>
          <a:prstGeom prst="line">
            <a:avLst/>
          </a:prstGeom>
          <a:ln w="63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24140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Linear accel X/Y/Z (mg)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2549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Dynamic accel — gravity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3697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Pickup threshold: 2.5 m/s²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4845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Drop threshold: 4.0 m/s²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5993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Step cadence from peak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714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Vibration RMS via 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051560"/>
            <a:ext cx="2743200" cy="5486400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11296" y="1161288"/>
            <a:ext cx="2523744" cy="256032"/>
          </a:xfrm>
          <a:prstGeom prst="rect">
            <a:avLst/>
          </a:prstGeom>
          <a:solidFill>
            <a:srgbClr val="3799F6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1296" y="1179576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QMI8658 · 3-axis · 50 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1508760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3799F6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1920240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IMU Gyroscope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38728" y="2267712"/>
            <a:ext cx="2468880" cy="0"/>
          </a:xfrm>
          <a:prstGeom prst="line">
            <a:avLst/>
          </a:prstGeom>
          <a:ln w="6350">
            <a:solidFill>
              <a:srgbClr val="379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38728" y="24140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Angular velocity X/Y/Z (dps)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282549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Turn rate EMA for queue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323697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Carry style orientation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364845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Yaw for dead-reckoning 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405993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Same chip — distinct modality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5936" y="1051560"/>
            <a:ext cx="2743200" cy="5486400"/>
          </a:xfrm>
          <a:prstGeom prst="rect">
            <a:avLst/>
          </a:prstGeom>
          <a:solidFill>
            <a:srgbClr val="141414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55664" y="1161288"/>
            <a:ext cx="2523744" cy="256032"/>
          </a:xfrm>
          <a:prstGeom prst="rect">
            <a:avLst/>
          </a:prstGeom>
          <a:solidFill>
            <a:srgbClr val="A855F7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1179576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Wi-Fi 2.4 GHz · every 15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1508760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A855F7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1920240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RSSI Scanner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83096" y="2267712"/>
            <a:ext cx="2468880" cy="0"/>
          </a:xfrm>
          <a:prstGeom prst="line">
            <a:avLst/>
          </a:prstGeom>
          <a:ln w="63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83096" y="24140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RSSI from ANCHOR_A/B/C (dBm)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282549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Log-distance path loss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323697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Zone: A / B / C / BETWEEN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364845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2D trilateration (posX, posY)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3096" y="405993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Gaussian KDE heatmap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90304" y="1051560"/>
            <a:ext cx="2743200" cy="5486400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00032" y="1161288"/>
            <a:ext cx="2523744" cy="256032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1179576"/>
            <a:ext cx="2523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Magnetic · GPIO ISR · 50 Hz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4" y="1508760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7464" y="1920240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Wheel Encoder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427464" y="2267712"/>
            <a:ext cx="2468880" cy="0"/>
          </a:xfrm>
          <a:prstGeom prst="line">
            <a:avLst/>
          </a:prstGeom>
          <a:ln w="63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427464" y="24140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3 counts per revolution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27464" y="282549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Wheel ⌀ 45.2 mm (caliper-verified)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7464" y="323697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Resolution ≈ 47 mm per count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27464" y="364845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Signed speed (direction-aware)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7464" y="405993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EMA-smoothed · ISR protected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EDGE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On-Device Behaviour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71717A"/>
                </a:solidFill>
                <a:latin typeface="Calibri"/>
              </a:rPr>
              <a:t>All 8 classifiers run locally on the ESP32-S3 — no cloud round-trip required for actuation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70432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298448"/>
            <a:ext cx="5596128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Carry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36776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Algorithm: 5-state rule-based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9655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Inputs: Speed · pitch/roll · vibration · aDyn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5321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LIFTED / PARKED / TILTED_PUSH / ROUGH_ROLL / SMOOTH_ROLL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298448"/>
            <a:ext cx="5596128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371600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Pickup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36776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Algorithm: aDyn threshold &gt; 2.5 m/s²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19655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Inputs: Accelerometer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321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→ 200 ms haptic + cloud event flag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5596128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67712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Drop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532888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Algorithm: aDyn threshold &gt; 4.0 m/s²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15767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Inputs: Accelerometer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5321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→ 200 ms haptic + cloud event flag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2194560"/>
            <a:ext cx="5596128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267712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Dwell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Algorithm: Speed &lt; 0.02 m/s timed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715767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Inputs: Encoder speed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834640"/>
            <a:ext cx="5321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799F6"/>
                </a:solidFill>
                <a:latin typeface="Calibri"/>
              </a:rPr>
              <a:t>→ Staff alert after 4 s pause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90672"/>
            <a:ext cx="5596128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163824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Browsing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429000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Algorithm: Slow + turn rate + dwell combo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611879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Inputs: Encoder + gyro + dwell timer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730752"/>
            <a:ext cx="5321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799F6"/>
                </a:solidFill>
                <a:latin typeface="Calibri"/>
              </a:rPr>
              <a:t>→ Blue event pill on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090672"/>
            <a:ext cx="5596128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3163824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Queue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429000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Algorithm: Creep + low turn + stop-go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611879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Inputs: All sensors fused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730752"/>
            <a:ext cx="5321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A855F7"/>
                </a:solidFill>
                <a:latin typeface="Calibri"/>
              </a:rPr>
              <a:t>→ 300 ms haptic + checkout bay highlight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86784"/>
            <a:ext cx="5596128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059936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Cadence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325112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Algorithm: Peak detection on |aDyn|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507991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Inputs: Accelerometer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626864"/>
            <a:ext cx="5321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→ Steps per minute in telemetry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3986784"/>
            <a:ext cx="5596128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4059936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Load Proxy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325112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Algorithm: EMA: vibration + jerk + speed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4507991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Inputs: Accel + encoder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4626864"/>
            <a:ext cx="5321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→ Estimated load level in telemetry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ACTUATION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Actuators &amp; System Health State Machine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5394960" cy="4754880"/>
          </a:xfrm>
          <a:prstGeom prst="rect">
            <a:avLst/>
          </a:prstGeom>
          <a:solidFill>
            <a:srgbClr val="14141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ACTUATOR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ST7789 TFT Display — 240×240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Red/white alternating flash at 180 ms intervals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5798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"ATTENTION — Check trolley — Staff alerted"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0545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Duration configurable via MQTT: displayFlashMs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529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Normal mode: status display (speed, zone, system state)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00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Shows live speed (m/s), zone label, and system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54787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Remotely disableable via MQTT:  { "actuatorEnabled": false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51560"/>
            <a:ext cx="5715000" cy="475488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161288"/>
            <a:ext cx="5394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71717A"/>
                </a:solidFill>
                <a:latin typeface="Calibri"/>
              </a:rPr>
              <a:t>5-STATE HEALTH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417320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System State Machine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36208" y="1773936"/>
            <a:ext cx="530352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36208" y="1901952"/>
            <a:ext cx="5303520" cy="493776"/>
          </a:xfrm>
          <a:prstGeom prst="rect">
            <a:avLst/>
          </a:prstGeom>
          <a:solidFill>
            <a:srgbClr val="1C1C1C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1993392"/>
            <a:ext cx="1645920" cy="292608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011680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02996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All 3 anchors + MQTT connected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468880"/>
            <a:ext cx="5303520" cy="493776"/>
          </a:xfrm>
          <a:prstGeom prst="rect">
            <a:avLst/>
          </a:prstGeom>
          <a:solidFill>
            <a:srgbClr val="1C1C1C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2560320"/>
            <a:ext cx="1645920" cy="292608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257860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DEGRADED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2596896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1–2 anchors — reduced positioning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3035808"/>
            <a:ext cx="5303520" cy="493776"/>
          </a:xfrm>
          <a:prstGeom prst="rect">
            <a:avLst/>
          </a:prstGeom>
          <a:solidFill>
            <a:srgbClr val="1C1C1C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3127248"/>
            <a:ext cx="1645920" cy="292608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145536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CLOUD_OFFLINE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3163824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MQTT disconnected — edge still operates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3602736"/>
            <a:ext cx="5303520" cy="493776"/>
          </a:xfrm>
          <a:prstGeom prst="rect">
            <a:avLst/>
          </a:prstGeom>
          <a:solidFill>
            <a:srgbClr val="1C1C1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7648" y="3694176"/>
            <a:ext cx="1645920" cy="292608"/>
          </a:xfrm>
          <a:prstGeom prst="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712464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NO_ANCHOR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3730752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0 anchors — zone classification disabled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4169664"/>
            <a:ext cx="5303520" cy="493776"/>
          </a:xfrm>
          <a:prstGeom prst="rect">
            <a:avLst/>
          </a:prstGeom>
          <a:solidFill>
            <a:srgbClr val="1C1C1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27648" y="4261104"/>
            <a:ext cx="1645920" cy="292608"/>
          </a:xfrm>
          <a:prstGeom prst="rect">
            <a:avLst/>
          </a:prstGeom>
          <a:solidFill>
            <a:srgbClr val="EF444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4279392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IMU_FAIL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4297680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IMU init failed — halts with error screen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4828032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Auto-recovery: WiFi retry every 10 s · MQTT retry every 1.5 s · DB rollback on write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RESOURCE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Power Budget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3749039" cy="539496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BATTERY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33832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1100 mAh Li-Po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83664"/>
            <a:ext cx="3200400" cy="0"/>
          </a:xfrm>
          <a:prstGeom prst="line">
            <a:avLst/>
          </a:prstGeom>
          <a:ln w="63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202996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Cell voltage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02996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3.7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35000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1,100 mAh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Energy stored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67004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4.07 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9008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Supply voltage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299008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5 V via 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01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Current 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3101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0.20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3016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Active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363016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1.00 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5020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Converter eff.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395020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~87%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702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Usable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427024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3.54 Wh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9028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459028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~3.5 hours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0832" y="1051560"/>
            <a:ext cx="3840480" cy="274320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1170432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71717A"/>
                </a:solidFill>
                <a:latin typeface="Calibri"/>
              </a:rPr>
              <a:t>CURRENT BREAKDOWN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143560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Power Consumers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1828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Wi-Fi radio (always-on)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  <a:latin typeface="Calibri"/>
              </a:rPr>
              <a:t>~150 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217627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ST7789 TFT + backlight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1762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3799F6"/>
                </a:solidFill>
                <a:latin typeface="Calibri"/>
              </a:rPr>
              <a:t>~30 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523744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ESP32-S3 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52374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22C55E"/>
                </a:solidFill>
                <a:latin typeface="Calibri"/>
              </a:rPr>
              <a:t>~20 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871216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QMI8658 IMU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8712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71717A"/>
                </a:solidFill>
                <a:latin typeface="Calibri"/>
              </a:rPr>
              <a:t>~1 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0832" y="3950208"/>
            <a:ext cx="3840480" cy="2496312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53712" y="4069080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OPTIMISATION NOTE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436168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Wi-Fi sleep disabled for MQTT responsiveness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7091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Enabling DTIM modem sleep → −30–40% 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505663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Would extend runtime to ~5 hours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540410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·  Trade-off: +100 ms reconnect latency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1051560"/>
            <a:ext cx="3383280" cy="539496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1170432"/>
            <a:ext cx="30175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RUNTIME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144475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 i="0">
                <a:solidFill>
                  <a:srgbClr val="22C55E"/>
                </a:solidFill>
                <a:latin typeface="Calibri"/>
              </a:rPr>
              <a:t>~3.5 hrs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212140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71717A"/>
                </a:solidFill>
                <a:latin typeface="Calibri"/>
              </a:rPr>
              <a:t>per charge cycle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49640" y="2468880"/>
            <a:ext cx="2834640" cy="0"/>
          </a:xfrm>
          <a:prstGeom prst="line">
            <a:avLst/>
          </a:prstGeom>
          <a:ln w="63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549640" y="2615184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4.07 Wh × 0.87 = 3.54 Wh usable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2980944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3.54 Wh ÷ 1.0 W = 3.54 hours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3346704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71717A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3712464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Sufficient for a full retail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4078224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morning session.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4443984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71717A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4809744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Charge between AM / PM shifts.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RESOURCE EVALUATION · BANDWIDTH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Proof of Optimised Bandwidth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24128"/>
            <a:ext cx="278892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06424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NAÏVE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25880"/>
            <a:ext cx="253288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Calibri"/>
              </a:rPr>
              <a:t>307.2 Kbps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792224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50 Hz · no rate limiter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2424" y="1024128"/>
            <a:ext cx="278892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106424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OPTIMISED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325880"/>
            <a:ext cx="253288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Calibri"/>
              </a:rPr>
              <a:t>61.4 Kbps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10 Hz · decoupled upload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1024128"/>
            <a:ext cx="278892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106424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325880"/>
            <a:ext cx="253288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Calibri"/>
              </a:rPr>
              <a:t>−80%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792224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Less upstream traffic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62872" y="1024128"/>
            <a:ext cx="278892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106424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DATA /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325880"/>
            <a:ext cx="253288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3799F6"/>
                </a:solidFill>
                <a:latin typeface="Calibri"/>
              </a:rPr>
              <a:t>94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792224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2525B"/>
                </a:solidFill>
                <a:latin typeface="Calibri"/>
              </a:rPr>
              <a:t>vs 484 MB naïve (−81%)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94560"/>
            <a:ext cx="11274552" cy="402336"/>
          </a:xfrm>
          <a:prstGeom prst="rect">
            <a:avLst/>
          </a:prstGeom>
          <a:solidFill>
            <a:srgbClr val="14223A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249424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496" y="2249424"/>
            <a:ext cx="4535424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What Changed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2249424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2249424"/>
            <a:ext cx="1033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596896"/>
            <a:ext cx="11274552" cy="402336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" y="2651760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Upload rate decoupling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25496" y="2651760"/>
            <a:ext cx="4535424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Sensor 50 Hz stays intact   →   Upload rate capped at 10 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2651760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307 → 61.4 Kbps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2651760"/>
            <a:ext cx="1033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−80%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999232"/>
            <a:ext cx="11274552" cy="402336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" y="3054096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RSSI scan throttling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5496" y="3054096"/>
            <a:ext cx="4535424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Every loop tick (infeasible) →   Every 15 s (configurable)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3054096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20% → 1.3% duty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054096"/>
            <a:ext cx="1033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−93.5%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401568"/>
            <a:ext cx="11274552" cy="402336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3456432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Speed-gated scanning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25496" y="3456432"/>
            <a:ext cx="4535424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Scans during motion         →   Only when speed &lt; 0.02 m/s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3456432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IMU gaps: 10 →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648" y="3456432"/>
            <a:ext cx="1033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−100%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803904"/>
            <a:ext cx="11274552" cy="402336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858768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Event-priority upload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25496" y="3858768"/>
            <a:ext cx="4535424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Embedded in 100 ms cadence →    Immediate at 40 ms gap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3858768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Latency: 100→40 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3858768"/>
            <a:ext cx="1033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−60%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206240"/>
            <a:ext cx="11274552" cy="402336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4261104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MQTT QoS 1 vs QoS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5496" y="4261104"/>
            <a:ext cx="4535424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4-packet handshake          →   2-packet handshake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0648" y="4261104"/>
            <a:ext cx="2176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200 → 20 ctrl/s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4261104"/>
            <a:ext cx="10332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−90%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61081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768 B JSON payload · 28 fields per reading  ·  Future savings: gzip −35% → ~61 MB/shift  ·  CBOR binary −50% → ~47 MB/shift  ·  UDP direct path (port 4210) bypasses MQTT on local 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COMMUNICATIONS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MQTT Stack &amp; Security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5303520" cy="3794760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MQTT · PRIMARY CLOUD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Broker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44475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mqtt.yungcz.com : 8883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73936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773936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MQTT over TLS 1.3  (RFC 8446)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CA cert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210312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ISRG Root X1 — pinned in firmware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432304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Username + 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6148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Publish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76148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smarttrolley/trolley_01/telemetry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9067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Subscribe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8256" y="309067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smarttrolley/trolley_01/config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19856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QoS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419856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1 — at-least-once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Reconnect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8256" y="3749040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Every 1.5 s on disconnect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83480"/>
            <a:ext cx="5303520" cy="164592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02352"/>
            <a:ext cx="4937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WHY SECURITY IS NECESSARY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·  Config topic is an attack surface — rogue client could disable actuators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2414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·  Telemetry contains privacy-sensitive movement &amp; dwell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533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·  Publicly accessible device on Wi-Fi — TLS prevents sniffing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051560"/>
            <a:ext cx="5806440" cy="859536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143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TLS 1.3 Encryption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453896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IETF RFC 8446 · all MQTT traffic encrypted · 1-RTT handshake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984248"/>
            <a:ext cx="5806440" cy="859536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0756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 Certificate Pinning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386584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ISRG Root X1 hardcoded in firmware — prevents MITM attacks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916936"/>
            <a:ext cx="5806440" cy="859536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00837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Broker Authentication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31927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Username + password on every connect · topic-level isolation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849624"/>
            <a:ext cx="5806440" cy="859536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39410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Payload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251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FastAPI + Pydantic validates all inbound config API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782312"/>
            <a:ext cx="5806440" cy="859536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48737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Error Isolation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518464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Malformed MQTT / UDP payloads caught &amp; discarded gracefully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715000"/>
            <a:ext cx="5806440" cy="859536"/>
          </a:xfrm>
          <a:prstGeom prst="rect">
            <a:avLst/>
          </a:prstGeom>
          <a:solidFill>
            <a:srgbClr val="141414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5806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AWS RDS Security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6117336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Database in private subnet (VPC) — not publicly reachable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DASHBOARD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Dashboard Features &amp; Metabase Analytics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2743200" cy="5440680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Live Monitoring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508760"/>
            <a:ext cx="2468880" cy="0"/>
          </a:xfrm>
          <a:prstGeom prst="line">
            <a:avLst/>
          </a:prstGeom>
          <a:ln w="6350">
            <a:solidFill>
              <a:srgbClr val="379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1664208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Speed · cadence · distance · dwell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66544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Zone: A / B / C / BETWEEN / UNKNOWN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RSSI bars for all 3 anchors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712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State badge: NORMAL / DEGRADED /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73552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Event pills: Pickup · Drop · Browsing ·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75888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WebSocket push — updates in &lt; 250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051560"/>
            <a:ext cx="2743200" cy="5440680"/>
          </a:xfrm>
          <a:prstGeom prst="rect">
            <a:avLst/>
          </a:prstGeom>
          <a:solidFill>
            <a:srgbClr val="141414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170432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Store Heatmap &amp; Queue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38728" y="1508760"/>
            <a:ext cx="2468880" cy="0"/>
          </a:xfrm>
          <a:prstGeom prst="line">
            <a:avLst/>
          </a:prstGeom>
          <a:ln w="63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38728" y="1664208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Gaussian KDE over 6×6 m SVG floor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066544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Shelf rows + 3 checkout bays mapped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468880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Switches to Queue Status on queue_detect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28712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Highlights active checkout bay + dwell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273552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Expandable to 500×500 px full 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3675888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Session density from RSSI trilateration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1051560"/>
            <a:ext cx="2743200" cy="5440680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1170432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External Context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83096" y="1508760"/>
            <a:ext cx="2468880" cy="0"/>
          </a:xfrm>
          <a:prstGeom prst="line">
            <a:avLst/>
          </a:prstGeom>
          <a:ln w="63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83096" y="1664208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Open-Meteo API — refreshed every 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2066544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Temperature · feels-like · wind · 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2468880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Sunrise / sunset / daylight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28712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Part-of-day &amp; shopping period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273552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Weekday vs weekend 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3675888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Weather chip always visible in nav bar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90304" y="1051560"/>
            <a:ext cx="2743200" cy="544068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1170432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Metabase Analytics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27464" y="1508760"/>
            <a:ext cx="2468880" cy="0"/>
          </a:xfrm>
          <a:prstGeom prst="line">
            <a:avLst/>
          </a:prstGeom>
          <a:ln w="63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27464" y="1664208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analytics.cartly.yungcz.com (EC2)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7464" y="2066544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Connected directly to AWS RDS 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7464" y="2468880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Telemetry volume over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7464" y="2871216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Average speed · zone distribution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7464" y="3273552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Queue events by hour of 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7464" y="3675888"/>
            <a:ext cx="2487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·  Pickup vs drop event counts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Export: GET /api/telemetry/export?format=csv  ·  GET .../export?format=json  ·  All 28 columns · streamed from AWS RDS MySQL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Evidence-Informed Design Choices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5596128" cy="896112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33856"/>
            <a:ext cx="5321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RSSI Trilateration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35608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799F6"/>
                </a:solidFill>
                <a:latin typeface="Calibri"/>
              </a:rPr>
              <a:t>Log-distance path loss — Rappaport (2002)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55064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RSSI(d) = RSSI(d₀) − 10n·log₁₀(d/d₀)  ·  n = 2.2 (open retail)  ·  d₀ = 1 m @ −56 dBm measured empirically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051560"/>
            <a:ext cx="5596128" cy="896112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133856"/>
            <a:ext cx="5321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EMA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435608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O(1) noise rejection vs SMA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655064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α = 0.1–0.3 tuned empirically  ·  Applied to: speed, vibration RMS, jerk, turn rate, cadence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39112"/>
            <a:ext cx="5596128" cy="896112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21408"/>
            <a:ext cx="5321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Gravity Removal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Dynamic accel isolation — Bao &amp; Intille (2004)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42616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aDyn = raw accel − EMA(gravity)  ·  Prevents false pickup/drop triggers on a tilted trolley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2039112"/>
            <a:ext cx="5596128" cy="896112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121408"/>
            <a:ext cx="5321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MQTT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423160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799F6"/>
                </a:solidFill>
                <a:latin typeface="Calibri"/>
              </a:rPr>
              <a:t>ISO/IEC 20922 — purpose-built for constrained IoT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642616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QoS 1 guarantees delivery without QoS 2 double-handshake overhead  ·  Pub/sub = natural access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26664"/>
            <a:ext cx="5596128" cy="896112"/>
          </a:xfrm>
          <a:prstGeom prst="rect">
            <a:avLst/>
          </a:prstGeom>
          <a:solidFill>
            <a:srgbClr val="141414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108960"/>
            <a:ext cx="5321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TLS 1.3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410712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IETF RFC 8446 · OWASP IoT cert pinning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30168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1-RTT vs TLS 1.2 2-RTT  ·  Critical for 1.5 s MQTT reconnect cycle  ·  ISRG Root X1 pinned in firmware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3026664"/>
            <a:ext cx="5596128" cy="896112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108960"/>
            <a:ext cx="5321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Empirical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410712"/>
            <a:ext cx="53218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All thresholds set via repeated physical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630168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Pickup 2.5 m/s² · Drop 4.0 m/s² · Queue dwell 3 s · Encoder CPR manually verified · Wheel ⌀ caliper-measured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AWS Stack — Deployed &amp; Proposed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51560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CURRENTLY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577840" cy="877824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53896"/>
            <a:ext cx="1005840" cy="256032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72184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3560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AWS RDS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28216"/>
            <a:ext cx="4206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eu-west-2  ·  cartly-database.czoceemm8dli.eu-west-2.rds.amazonaws.com : 3306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76856"/>
            <a:ext cx="5577840" cy="877824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04872"/>
            <a:ext cx="1005840" cy="256032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386584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EC2 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679192"/>
            <a:ext cx="4206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eu-west-2  ·  api.cartly.yungcz.com  (FastAPI + paho-mqtt + SQLAlchemy)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27832"/>
            <a:ext cx="5577840" cy="877824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55848"/>
            <a:ext cx="1005840" cy="256032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7413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337560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Metabase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630168"/>
            <a:ext cx="4206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EC2-hosted  ·  analytics.cartly.yungcz.com — connected to RDS 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PROPOSED ADDITIONS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557784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44568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AWS IoT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44568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Managed MQTT — scalable, Lambda-integrated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82896"/>
            <a:ext cx="557784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946904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AWS QuickSight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946904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BI dashboards over RDS — no extra ETL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85232"/>
            <a:ext cx="557784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349240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AWS 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349240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Long-term CSV/parquet archival from 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87568"/>
            <a:ext cx="557784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75157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AWS Lambda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751576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Event triggers on queue_detect / pickup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089904"/>
            <a:ext cx="557784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153912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AWS Cognito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6153912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71717A"/>
                </a:solidFill>
                <a:latin typeface="Calibri"/>
              </a:rPr>
              <a:t>Dashboard auth — staff vs manager roles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051560"/>
            <a:ext cx="5532120" cy="5596128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170432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71717A"/>
                </a:solidFill>
                <a:latin typeface="Calibri"/>
              </a:rPr>
              <a:t>END-TO-END DATA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43560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data moves through the system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0" y="1773936"/>
            <a:ext cx="5120640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400800" y="1901952"/>
            <a:ext cx="5120640" cy="475488"/>
          </a:xfrm>
          <a:prstGeom prst="rect">
            <a:avLst/>
          </a:prstGeom>
          <a:solidFill>
            <a:srgbClr val="1C1C1C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196596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ESP32-S3 Sensors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216712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50 Hz IMU · encoder · RSSI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322576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450592"/>
            <a:ext cx="5120640" cy="475488"/>
          </a:xfrm>
          <a:prstGeom prst="rect">
            <a:avLst/>
          </a:prstGeom>
          <a:solidFill>
            <a:srgbClr val="1C1C1C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251460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MQTT TLS 1.3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27157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mqtt.yungcz.com:8883 · QoS 1 · 10 Hz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2871216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999232"/>
            <a:ext cx="5120640" cy="475488"/>
          </a:xfrm>
          <a:prstGeom prst="rect">
            <a:avLst/>
          </a:prstGeom>
          <a:solidFill>
            <a:srgbClr val="1C1C1C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306324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FastAPI Backend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326440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api.cartly.yungcz.com · WebSocket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3419856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547872"/>
            <a:ext cx="5120640" cy="475488"/>
          </a:xfrm>
          <a:prstGeom prst="rect">
            <a:avLst/>
          </a:prstGeom>
          <a:solidFill>
            <a:srgbClr val="1C1C1C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361188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AWS RDS MySQL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381304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eu-west-2 · 28 cols · timestamped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3968496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096512"/>
            <a:ext cx="5120640" cy="475488"/>
          </a:xfrm>
          <a:prstGeom prst="rect">
            <a:avLst/>
          </a:prstGeom>
          <a:solidFill>
            <a:srgbClr val="1C1C1C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416052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React Dashboard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436168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Live WebSocket · &lt; 250 ms latency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4517136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4645152"/>
            <a:ext cx="5120640" cy="475488"/>
          </a:xfrm>
          <a:prstGeom prst="rect">
            <a:avLst/>
          </a:prstGeom>
          <a:solidFill>
            <a:srgbClr val="1C1C1C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470916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Metabase Analytics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491032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analytics.cartly.yungcz.com · SQL BI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5065776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5193792"/>
            <a:ext cx="5120640" cy="475488"/>
          </a:xfrm>
          <a:prstGeom prst="rect">
            <a:avLst/>
          </a:prstGeom>
          <a:solidFill>
            <a:srgbClr val="1C1C1C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525780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Open-Meteo API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3796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Weather enrichment · 5 min cache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Marking Criteria — All Covered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5687568" cy="283464"/>
          </a:xfrm>
          <a:prstGeom prst="rect">
            <a:avLst/>
          </a:prstGeom>
          <a:solidFill>
            <a:srgbClr val="14223A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06424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4" y="1106424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Criterion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1106424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35024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389888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Specifications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4" y="1389888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Key user requirements &amp;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1389888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Rappaport·Bao·RFC8446·OWASP refs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18488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673352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Specifications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4" y="1673352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Deployment challenges considered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1673352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Battery life·anchors·MQTT retry·TLS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01952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1956816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Specifications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7944" y="1956816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Evidence-informed design choices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1956816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Literature + empirical calibration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85416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240280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End-to-End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7944" y="2240280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≥4 sensor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2240280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Accel · Gyro · RSSI · Encoder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468880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2523744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7944" y="2523744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≥1 actuator + MKR1010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2523744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TFT display · 2×MKR1010 + 1×C3 as 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52344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807208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End-to-End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37944" y="2807208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Data transmitted to 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3672" y="2807208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MQTT TLS → mqtt.yungcz.com → 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35808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090672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37944" y="3090672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Online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2" y="3090672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AWS RDS MySQL eu-west-2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19272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3374136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37944" y="3374136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Labelled for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3672" y="3374136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28 named columns + timestamp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602736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657600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37944" y="3657600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Time-series download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33672" y="3657600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/api/telemetry/export?format=csv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86200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941064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37944" y="3941064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Operational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3672" y="3941064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React · live WS · heatmap · config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169664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4224528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37944" y="4224528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Sensors trigger interface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33672" y="4224528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Alert pills · state badge · WS push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453128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4507992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UI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37944" y="4507992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Remote control of edge 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33672" y="4507992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6 presets + custom → MQTT config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7648" y="1051560"/>
            <a:ext cx="5687568" cy="283464"/>
          </a:xfrm>
          <a:prstGeom prst="rect">
            <a:avLst/>
          </a:prstGeom>
          <a:solidFill>
            <a:srgbClr val="14223A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9944" y="1106424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Category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08392" y="1106424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Criterion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04120" y="1106424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799F6"/>
                </a:solidFill>
                <a:latin typeface="Calibri"/>
              </a:rPr>
              <a:t>Evidence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27648" y="1335024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9944" y="1389888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Edge Control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08392" y="1389888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Dynamically configurable, any location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4120" y="1389888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MQTT config sub · OTA · no reboot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27648" y="1618488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9944" y="1673352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Edge Control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08392" y="1673352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Manual &amp; automatic actuation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1673352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Config panel + on-device classifiers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27648" y="1901952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1956816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Resources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08392" y="1956816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Estimated power consumption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20" y="1956816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5V×0.2A=1W · 3.54Wh÷1W=3.5hr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27648" y="2185416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9944" y="2240280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Resources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08392" y="2240280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Proof of optimised bandwidth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2240280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307→61 Kbps (−80%) · 5 optimisations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27648" y="2468880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9944" y="2523744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Optimised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08392" y="2523744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Wireless sensor network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04120" y="2523744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2×MKR1010 + 1×C3 + ESP32-S3 star topology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27648" y="2752344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9944" y="2807208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Optimised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08392" y="2807208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Battery powered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04120" y="2807208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1100mAh Li-Po · 3.5hr runtime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7648" y="3035808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9944" y="3090672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Enriched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08392" y="3090672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External data sources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04120" y="3090672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Open-Meteo API · weather · daylight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27648" y="3319272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9944" y="3374136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Enriched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08392" y="3374136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Failsafe mechanisms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04120" y="3374136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5-state machine · reconnect · rollback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27648" y="3602736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9944" y="3657600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Enriched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08392" y="3657600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Analytics platform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04120" y="3657600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Metabase @ analytics.cartly.yungcz.com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27648" y="3886200"/>
            <a:ext cx="5687568" cy="283464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09944" y="3941064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Security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08392" y="3941064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Security protocols + why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04120" y="3941064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TLS 1.3 · CA pin · auth · isolation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27648" y="4169664"/>
            <a:ext cx="5687568" cy="283464"/>
          </a:xfrm>
          <a:prstGeom prst="rect">
            <a:avLst/>
          </a:prstGeom>
          <a:solidFill>
            <a:srgbClr val="141414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9944" y="4224528"/>
            <a:ext cx="1188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✅ Security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08392" y="4224528"/>
            <a:ext cx="22860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AWS tools described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04120" y="4224528"/>
            <a:ext cx="188366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RDS live · IoT Core/QS/S3 proposed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Demo Script — Talking Points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43000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124712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End-to-End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5389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Move trolley → 50 Hz sensors → 8 classifiers → MQTT TLS 10 Hz → AWS RDS → dashboard WebSocket &lt; 250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051560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143000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5704" y="1124712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Edge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45389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Trigger pickup — haptic fires immediately with no cloud round-trip. Show on-device actuation is instant.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92808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984248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799F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196596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Dynamic Reconfiguration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295144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Config panel: change pickupAccelThreshold → MQTT publish → device applies instantly → repeat pickup gesture.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892808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984248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4" y="196596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Positioning &amp; Heatmap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295144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Walk zones A→B→C: RSSI + zone badge change. Expand heatmap to show session trail on 6×6 m floor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34056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2825496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2807208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Queue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136392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Enter checkout area → queue_detect fires → dashboard switches to Queue Status view → bay highlighted + dwell.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734056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825496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2807208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External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136392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Show weather panel: Open-Meteo live temperature/rain/cloud + shopping period label in nav bar chips.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75304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3666744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364845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Power &amp; Battery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3977640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1100 mAh @ 3.7V → 1W draw → 3.5 hr runtime at 5V × 0.2A. Sufficient for retail morning shift.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3575304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666744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5704" y="364845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Security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977640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MQTT runs over TLS 1.3. ISRG Root X1 CA pinned in firmware. AWS RDS in private VPC subnet.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16552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507992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799F6"/>
                </a:solidFill>
                <a:latin typeface="Calibr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Export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4818888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Click Download CSV → full time-series streamed from AWS RDS · 28 labelled columns · all readings.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4416552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4507992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75704" y="448970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Failsafe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4818888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Disconnect Wi-Fi → CLOUD_OFFLINE badge. Reconnect → NORMAL within 1.5 s. Edge keeps running throughout.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257800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" y="5349240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5330952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Metabase Analytics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" y="566013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Open analytics.cartly.yungcz.com → show speed trends, zone distribution, queue events by hour from AWS RDS.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5352" y="5257800"/>
            <a:ext cx="5596128" cy="749808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5349240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75704" y="5330952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Anchor Node Role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3368" y="5660136"/>
            <a:ext cx="53400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71717A"/>
                </a:solidFill>
                <a:latin typeface="Calibri"/>
              </a:rPr>
              <a:t>2× Arduino MKR1010 + 1× ESP32 C3 Super Mini = infrastructure APs. Each broadcasts a fixed SSID. Trolley scans RSSI every 15 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ly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201168"/>
            <a:ext cx="1645920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Full Technical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051560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15568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25880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2× MKR1010 + 1× ESP32 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54533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Wi-Fi APs · ANCHOR_A/B/C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051560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115568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Edge MCU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325880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ESP32-S3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54533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50 Hz loop · 8 classifiers · C++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18704" y="1051560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115568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IMU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325880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QMI8658  (6-axis, I²C)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54533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Accel + Gyro · GPIO 47/48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01368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865376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3799F6"/>
                </a:solidFill>
                <a:latin typeface="Calibri"/>
              </a:rPr>
              <a:t>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2075688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ST7789 240×240 TFT (SPI)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2295144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Status + alert flash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2" y="1801368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1865376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Firmware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2075688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C++ · Arduino · PlatformIO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295144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PubSubClient · Arduino_GFX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18704" y="1801368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1865376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3799F6"/>
                </a:solidFill>
                <a:latin typeface="Calibri"/>
              </a:rPr>
              <a:t>Cloud Transport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075688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MQTT over TLS 1.3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295144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PubSubClient · ISRG Root X1 pinned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551176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2615184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Local Transport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2825496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UDP JSON · port 4210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3044952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Opt-in · 20 Hz · bypasses broker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2551176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5968" y="2615184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3799F6"/>
                </a:solidFill>
                <a:latin typeface="Calibri"/>
              </a:rPr>
              <a:t>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2825496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Python FastAPI + SQLAlchemy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3044952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api.cartly.yungcz.com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18704" y="2551176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2615184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825496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AWS RDS MySQL (eu-west-2)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044952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cartly-database.czoceemm8dli…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300984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" y="336499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A855F7"/>
                </a:solidFill>
                <a:latin typeface="Calibri"/>
              </a:rPr>
              <a:t>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3575304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Metabase on EC2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3794760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analytics.cartly.yungcz.com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7952" y="3300984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36499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External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3575304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Open-Meteo Forecast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3794760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Weather · free · no API key needed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8704" y="3300984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336499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MQTT Client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3575304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paho-mqtt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3794760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Backend subscriber · TLS verified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050792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379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6" y="4114800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3799F6"/>
                </a:solidFill>
                <a:latin typeface="Calibri"/>
              </a:rPr>
              <a:t>Frontend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216" y="4325112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+ Recharts + 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6" y="4544568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api.cartly.yungcz.com (cloud-hosted)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87952" y="4050792"/>
            <a:ext cx="3639312" cy="685800"/>
          </a:xfrm>
          <a:prstGeom prst="rect">
            <a:avLst/>
          </a:prstGeom>
          <a:solidFill>
            <a:srgbClr val="141414"/>
          </a:solidFill>
          <a:ln w="9525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15968" y="4114800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1717A"/>
                </a:solidFill>
                <a:latin typeface="Calibri"/>
              </a:rPr>
              <a:t>Build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5968" y="4325112"/>
            <a:ext cx="3383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PlatformIO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5968" y="4544568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1717A"/>
                </a:solidFill>
                <a:latin typeface="Calibri"/>
              </a:rPr>
              <a:t>ESP32-S3 Arduino target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solidFill>
            <a:srgbClr val="1C1C1C"/>
          </a:solidFill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652881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71717A"/>
                </a:solidFill>
                <a:latin typeface="Calibri"/>
              </a:rPr>
              <a:t>Cartly  ·  ELEC0033  ·  UCL Year 3  ·  Edge Demonstration  ·  All marking criteria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